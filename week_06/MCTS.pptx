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8" r:id="rId5"/>
    <p:sldId id="260" r:id="rId6"/>
    <p:sldId id="259" r:id="rId7"/>
    <p:sldId id="264" r:id="rId8"/>
    <p:sldId id="265" r:id="rId9"/>
    <p:sldId id="266" r:id="rId10"/>
    <p:sldId id="261" r:id="rId11"/>
    <p:sldId id="262" r:id="rId12"/>
    <p:sldId id="263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MCTS-RAG</a:t>
            </a:r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</a:rPr>
              <a:t>Enhance Retrieval-Augmented Generation with </a:t>
            </a:r>
            <a:r>
              <a:rPr lang="en-US" altLang="zh-CN" dirty="0">
                <a:latin typeface="+mn-lt"/>
              </a:rPr>
              <a:t>MCTS</a:t>
            </a:r>
            <a:endParaRPr lang="en-US" altLang="zh-CN" dirty="0">
              <a:latin typeface="+mn-lt"/>
            </a:endParaRPr>
          </a:p>
          <a:p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Ao Li</a:t>
            </a:r>
            <a:endParaRPr lang="en-US" altLang="zh-CN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Setup Data &amp;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Models: Qwen2.5-7B, Llama3.1-8B(need to request access)</a:t>
            </a:r>
            <a:endParaRPr lang="en-US"/>
          </a:p>
          <a:p>
            <a:pPr marL="0" indent="0">
              <a:buNone/>
            </a:pPr>
            <a:r>
              <a:rPr lang="en-US"/>
              <a:t>Data: ComplexWebQA, GPQA, and FoolMeTwice</a:t>
            </a:r>
            <a:endParaRPr lang="en-US"/>
          </a:p>
          <a:p>
            <a:pPr marL="0" indent="0">
              <a:buNone/>
            </a:pPr>
            <a:r>
              <a:rPr lang="en-US"/>
              <a:t>Retrieval: Bing API and faiss (I used wikipedia api instead of)</a:t>
            </a:r>
            <a:br>
              <a:rPr lang="en-US"/>
            </a:br>
            <a:br>
              <a:rPr lang="en-US"/>
            </a:b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Retrieval Integration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81405" y="1666875"/>
            <a:ext cx="4598035" cy="43516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145530" y="2439035"/>
            <a:ext cx="535241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 ways in paper:</a:t>
            </a:r>
            <a:br>
              <a:rPr lang="en-US"/>
            </a:br>
            <a:r>
              <a:rPr lang="en-US"/>
              <a:t>1. faiss(vectorDB)</a:t>
            </a:r>
            <a:endParaRPr lang="en-US"/>
          </a:p>
          <a:p>
            <a:r>
              <a:rPr lang="en-US"/>
              <a:t>2. local file</a:t>
            </a:r>
            <a:endParaRPr lang="en-US"/>
          </a:p>
          <a:p>
            <a:r>
              <a:rPr lang="en-US"/>
              <a:t>3. Bing API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My ways:</a:t>
            </a:r>
            <a:endParaRPr lang="en-US"/>
          </a:p>
          <a:p>
            <a:r>
              <a:rPr lang="en-US"/>
              <a:t>1. local file</a:t>
            </a:r>
            <a:endParaRPr lang="en-US"/>
          </a:p>
          <a:p>
            <a:r>
              <a:rPr lang="en-US"/>
              <a:t>2. duckduckgo search api (many network bugs☹️) </a:t>
            </a:r>
            <a:endParaRPr lang="en-US"/>
          </a:p>
          <a:p>
            <a:r>
              <a:rPr lang="en-US"/>
              <a:t>3. wikipedia (free, works best)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MCTS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31185" y="400050"/>
            <a:ext cx="8032115" cy="50412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633855" y="5790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detailed definition in </a:t>
            </a:r>
            <a:r>
              <a:rPr lang="en-US"/>
              <a:t>section 3.2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MCTS-RAG</a:t>
            </a:r>
            <a:endParaRPr lang="en-US"/>
          </a:p>
        </p:txBody>
      </p:sp>
      <p:pic>
        <p:nvPicPr>
          <p:cNvPr id="4" name="Content Placeholder 3" descr="Screenshot 2026-02-23 at 22.31.2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866265"/>
            <a:ext cx="10515600" cy="4269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MCTS-RAG</a:t>
            </a:r>
            <a:endParaRPr lang="en-US"/>
          </a:p>
        </p:txBody>
      </p:sp>
      <p:pic>
        <p:nvPicPr>
          <p:cNvPr id="4" name="Content Placeholder 3" descr="Screenshot 2026-02-23 at 22.32.5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2791460"/>
            <a:ext cx="10515600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MCTS-RAG</a:t>
            </a:r>
            <a:endParaRPr lang="en-US"/>
          </a:p>
        </p:txBody>
      </p:sp>
      <p:pic>
        <p:nvPicPr>
          <p:cNvPr id="4" name="Content Placeholder 3" descr="Screenshot 2026-02-23 at 22.33.2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67815" y="3099435"/>
            <a:ext cx="8674100" cy="180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Challenges &amp; Solutions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1. Retrieval</a:t>
            </a:r>
            <a:br>
              <a:rPr lang="en-US"/>
            </a:br>
            <a:r>
              <a:rPr lang="en-US" sz="2000"/>
              <a:t>Bing API is expensive, and faiss needs to collect, I choose wikipedia</a:t>
            </a:r>
            <a:endParaRPr lang="en-US" sz="2000"/>
          </a:p>
          <a:p>
            <a:pPr marL="0" indent="0">
              <a:buNone/>
            </a:pPr>
            <a:r>
              <a:rPr lang="en-US"/>
              <a:t>2. Environment</a:t>
            </a:r>
            <a:endParaRPr lang="en-US"/>
          </a:p>
          <a:p>
            <a:pPr marL="0" indent="0">
              <a:buNone/>
            </a:pPr>
            <a:r>
              <a:rPr lang="en-US" sz="2000"/>
              <a:t>vllm is very fast, but it’s hard to compile successfully on windows, so linux</a:t>
            </a:r>
            <a:endParaRPr lang="en-US" sz="2000"/>
          </a:p>
          <a:p>
            <a:pPr marL="0" indent="0">
              <a:buNone/>
            </a:pPr>
            <a:r>
              <a:rPr lang="en-US"/>
              <a:t>3. Output format &amp; Query</a:t>
            </a:r>
            <a:br>
              <a:rPr lang="en-US"/>
            </a:br>
            <a:r>
              <a:rPr lang="en-US" sz="2000"/>
              <a:t>QAs includes MCQ &amp; Short Answer, and query format affects performance, I use the prompt provided in offical repository</a:t>
            </a:r>
            <a:br>
              <a:rPr lang="en-US"/>
            </a:br>
            <a:r>
              <a:rPr lang="en-US"/>
              <a:t>4. </a:t>
            </a:r>
            <a:r>
              <a:rPr lang="en-US"/>
              <a:t>Runtime</a:t>
            </a:r>
            <a:endParaRPr lang="en-US"/>
          </a:p>
          <a:p>
            <a:pPr marL="0" indent="0">
              <a:buNone/>
            </a:pPr>
            <a:r>
              <a:rPr lang="en-US" altLang="zh-CN" sz="2000"/>
              <a:t>MCTS-RAG runs 2x-3x slower than Standard RAG, just be patience</a:t>
            </a:r>
            <a:endParaRPr lang="en-US" altLang="zh-CN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Results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30495" y="593725"/>
            <a:ext cx="6098540" cy="2835275"/>
          </a:xfrm>
          <a:prstGeom prst="rect">
            <a:avLst/>
          </a:prstGeom>
        </p:spPr>
      </p:pic>
      <p:pic>
        <p:nvPicPr>
          <p:cNvPr id="5" name="Picture 4" descr="Screenshot 2026-02-23 at 22.17.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205" y="4429760"/>
            <a:ext cx="6743700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Official repository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https://github.com/yale-nlp/MCTS-RAG</a:t>
            </a:r>
            <a:br>
              <a:rPr lang="en-US"/>
            </a:br>
            <a:r>
              <a:rPr lang="en-US"/>
              <a:t>https://arxiv.org/abs/2503.20757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987</Words>
  <Application>WPS Spreadsheets</Application>
  <PresentationFormat>宽屏</PresentationFormat>
  <Paragraphs>48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Color Emoji</vt:lpstr>
      <vt:lpstr>WPS</vt:lpstr>
      <vt:lpstr>MCTS-RAG</vt:lpstr>
      <vt:lpstr>Setup Data &amp; Model</vt:lpstr>
      <vt:lpstr>Retrieval Integration</vt:lpstr>
      <vt:lpstr>MCTS</vt:lpstr>
      <vt:lpstr>MCTS-RAG</vt:lpstr>
      <vt:lpstr>MCTS-RAG</vt:lpstr>
      <vt:lpstr>MCTS-RAG</vt:lpstr>
      <vt:lpstr>Challenges &amp; Solutions</vt:lpstr>
      <vt:lpstr>Results</vt:lpstr>
      <vt:lpstr>Official repository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JoKerS</cp:lastModifiedBy>
  <cp:revision>11</cp:revision>
  <dcterms:created xsi:type="dcterms:W3CDTF">2026-03-09T18:08:41Z</dcterms:created>
  <dcterms:modified xsi:type="dcterms:W3CDTF">2026-03-09T18:08:41Z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1033-6.3.0.8471</vt:lpwstr>
  </property>
  <property fmtid="{D5CDD505-2E9C-101B-9397-08002B2CF9AE}" pid="3" name="ICV">
    <vt:lpwstr>7152C2E0ADED2578FCE99C69497EBBB0_41</vt:lpwstr>
  </property>
</Properties>
</file>