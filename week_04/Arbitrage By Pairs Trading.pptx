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3"/>
    <p:sldId id="258" r:id="rId4"/>
    <p:sldId id="259" r:id="rId5"/>
    <p:sldId id="260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Arbitrage By Pairs Trading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2000"/>
              <a:t>Actions: long, short, close, hold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State: 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- 7 spread: very low, low, below mean, mean, above mean, high, very high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- 3 position: long, short, closed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- 7 * 3 = 21 states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Transition: based on the current position and z-score</a:t>
            </a:r>
            <a:endParaRPr 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Reward: </a:t>
            </a:r>
            <a:endParaRPr lang="en-US" altLang="en-US" sz="2000"/>
          </a:p>
        </p:txBody>
      </p:sp>
      <p:sp>
        <p:nvSpPr>
          <p:cNvPr id="4" name="Text Box 3"/>
          <p:cNvSpPr txBox="1"/>
          <p:nvPr/>
        </p:nvSpPr>
        <p:spPr>
          <a:xfrm>
            <a:off x="10502265" y="6348730"/>
            <a:ext cx="1365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Ao Li</a:t>
            </a:r>
            <a:endParaRPr lang="en-US"/>
          </a:p>
        </p:txBody>
      </p:sp>
      <p:pic>
        <p:nvPicPr>
          <p:cNvPr id="5" name="Picture 4" descr="QianJianTec17699941776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1355" y="5408295"/>
            <a:ext cx="6309995" cy="4032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Result</a:t>
            </a:r>
            <a:endParaRPr lang="en-US"/>
          </a:p>
        </p:txBody>
      </p:sp>
      <p:pic>
        <p:nvPicPr>
          <p:cNvPr id="4" name="Content Placeholder 3" descr="Screenshot 2026-02-01 at 16.47.3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584325"/>
            <a:ext cx="8557260" cy="441261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792480" y="1956435"/>
            <a:ext cx="7357745" cy="1123950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771525" y="4756150"/>
            <a:ext cx="7806690" cy="119253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0502265" y="6348730"/>
            <a:ext cx="1365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Ao Li</a:t>
            </a:r>
            <a:endParaRPr lang="en-US"/>
          </a:p>
        </p:txBody>
      </p:sp>
      <p:sp>
        <p:nvSpPr>
          <p:cNvPr id="9" name="Right Arrow 8"/>
          <p:cNvSpPr/>
          <p:nvPr/>
        </p:nvSpPr>
        <p:spPr>
          <a:xfrm rot="9720000">
            <a:off x="8295005" y="2080895"/>
            <a:ext cx="1069340" cy="1651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9391650" y="1550035"/>
            <a:ext cx="160655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Make Sense</a:t>
            </a:r>
            <a:endParaRPr lang="en-US"/>
          </a:p>
        </p:txBody>
      </p:sp>
      <p:sp>
        <p:nvSpPr>
          <p:cNvPr id="12" name="Right Arrow 11"/>
          <p:cNvSpPr/>
          <p:nvPr/>
        </p:nvSpPr>
        <p:spPr>
          <a:xfrm rot="11820000">
            <a:off x="8718550" y="5373370"/>
            <a:ext cx="1069340" cy="165100"/>
          </a:xfrm>
          <a:prstGeom prst="rightArrow">
            <a:avLst/>
          </a:prstGeom>
          <a:solidFill>
            <a:srgbClr val="FF33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9928225" y="5421630"/>
            <a:ext cx="160655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Make Sense</a:t>
            </a:r>
            <a:endParaRPr lang="en-US"/>
          </a:p>
        </p:txBody>
      </p:sp>
      <p:sp>
        <p:nvSpPr>
          <p:cNvPr id="15" name="Right Arrow 14"/>
          <p:cNvSpPr/>
          <p:nvPr/>
        </p:nvSpPr>
        <p:spPr>
          <a:xfrm rot="10800000">
            <a:off x="8322310" y="3707765"/>
            <a:ext cx="1069340" cy="165100"/>
          </a:xfrm>
          <a:prstGeom prst="rightArrow">
            <a:avLst/>
          </a:prstGeom>
          <a:solidFill>
            <a:srgbClr val="B2B2B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9522460" y="3369945"/>
            <a:ext cx="216535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If spread is near mean, action should be close position intuitively.</a:t>
            </a:r>
            <a:endParaRPr lang="en-US" sz="1000"/>
          </a:p>
          <a:p>
            <a:endParaRPr lang="en-US" sz="1000"/>
          </a:p>
          <a:p>
            <a:r>
              <a:rPr lang="en-US" sz="1000"/>
              <a:t>Maybe the definition of action should be more specific.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Q-Learning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2000"/>
              <a:t>Actions: position change, Δ ∈ {-2Q, ..., 2Q}, number of actions is 4Q + 1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State: number of positions is </a:t>
            </a:r>
            <a:r>
              <a:rPr lang="en-US" sz="2000">
                <a:sym typeface="+mn-ea"/>
              </a:rPr>
              <a:t>∈ {-Q, ..., Q}, number of z_bin is 7, so 7 * (2Q+1)</a:t>
            </a:r>
            <a:endParaRPr lang="en-US" sz="2000">
              <a:sym typeface="+mn-ea"/>
            </a:endParaRP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Transition: based on inventory of position and current state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Reward: </a:t>
            </a:r>
            <a:endParaRPr lang="en-US" sz="2000"/>
          </a:p>
        </p:txBody>
      </p:sp>
      <p:pic>
        <p:nvPicPr>
          <p:cNvPr id="4" name="Picture 3" descr="QianJianTec176999637366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00" y="4213225"/>
            <a:ext cx="8850630" cy="3835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Result</a:t>
            </a:r>
            <a:endParaRPr lang="en-US"/>
          </a:p>
        </p:txBody>
      </p:sp>
      <p:pic>
        <p:nvPicPr>
          <p:cNvPr id="4" name="Content Placeholder 3" descr="Screenshot 2026-02-01 at 20.40.2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91815" y="582930"/>
            <a:ext cx="3152140" cy="5849620"/>
          </a:xfrm>
          <a:prstGeom prst="rect">
            <a:avLst/>
          </a:prstGeom>
        </p:spPr>
      </p:pic>
      <p:pic>
        <p:nvPicPr>
          <p:cNvPr id="3" name="Picture 2" descr="inv_heat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410" y="1739900"/>
            <a:ext cx="5608320" cy="33788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</Words>
  <Application>WPS Spreadsheets</Application>
  <PresentationFormat>宽屏</PresentationFormat>
  <Paragraphs>39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宋体-简</vt:lpstr>
      <vt:lpstr>WPS</vt:lpstr>
      <vt:lpstr>Arbitrage By Pairs Trading</vt:lpstr>
      <vt:lpstr>Result</vt:lpstr>
      <vt:lpstr>Q-Learning</vt:lpstr>
      <vt:lpstr>Result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JoKerS</cp:lastModifiedBy>
  <cp:revision>10</cp:revision>
  <dcterms:created xsi:type="dcterms:W3CDTF">2026-02-09T16:34:47Z</dcterms:created>
  <dcterms:modified xsi:type="dcterms:W3CDTF">2026-02-09T16:34:47Z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1033-6.3.0.8471</vt:lpwstr>
  </property>
  <property fmtid="{D5CDD505-2E9C-101B-9397-08002B2CF9AE}" pid="3" name="ICV">
    <vt:lpwstr>A0E84D6EDE46CD37B7C97F69E8577BDA_41</vt:lpwstr>
  </property>
</Properties>
</file>